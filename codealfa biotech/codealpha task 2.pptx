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14"/>
  </p:notesMasterIdLst>
  <p:sldIdLst>
    <p:sldId id="256" r:id="rId2"/>
    <p:sldId id="257" r:id="rId3"/>
    <p:sldId id="293" r:id="rId4"/>
    <p:sldId id="258" r:id="rId5"/>
    <p:sldId id="294" r:id="rId6"/>
    <p:sldId id="297" r:id="rId7"/>
    <p:sldId id="298" r:id="rId8"/>
    <p:sldId id="304" r:id="rId9"/>
    <p:sldId id="305" r:id="rId10"/>
    <p:sldId id="300" r:id="rId11"/>
    <p:sldId id="306" r:id="rId12"/>
    <p:sldId id="265" r:id="rId13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11460" userDrawn="1">
          <p15:clr>
            <a:srgbClr val="A4A3A4"/>
          </p15:clr>
        </p15:guide>
        <p15:guide id="4" orient="horz" pos="2696" userDrawn="1">
          <p15:clr>
            <a:srgbClr val="A4A3A4"/>
          </p15:clr>
        </p15:guide>
        <p15:guide id="5" pos="612" userDrawn="1">
          <p15:clr>
            <a:srgbClr val="A4A3A4"/>
          </p15:clr>
        </p15:guide>
        <p15:guide id="6" pos="60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  <a:srgbClr val="E3B525"/>
    <a:srgbClr val="009EF3"/>
    <a:srgbClr val="FFA1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82" autoAdjust="0"/>
  </p:normalViewPr>
  <p:slideViewPr>
    <p:cSldViewPr>
      <p:cViewPr varScale="1">
        <p:scale>
          <a:sx n="44" d="100"/>
          <a:sy n="44" d="100"/>
        </p:scale>
        <p:origin x="798" y="72"/>
      </p:cViewPr>
      <p:guideLst>
        <p:guide orient="horz" pos="344"/>
        <p:guide pos="11460"/>
        <p:guide orient="horz" pos="2696"/>
        <p:guide pos="612"/>
        <p:guide pos="60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08.11.2025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51503" y="-7426"/>
            <a:ext cx="7819476" cy="10700827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66094" y="2151884"/>
            <a:ext cx="13369935" cy="4079333"/>
          </a:xfrm>
        </p:spPr>
        <p:txBody>
          <a:bodyPr anchor="b">
            <a:normAutofit/>
          </a:bodyPr>
          <a:lstStyle>
            <a:lvl1pPr algn="r">
              <a:defRPr sz="9355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40579" y="6231217"/>
            <a:ext cx="10895449" cy="2165084"/>
          </a:xfrm>
        </p:spPr>
        <p:txBody>
          <a:bodyPr anchor="t">
            <a:normAutofit/>
          </a:bodyPr>
          <a:lstStyle>
            <a:lvl1pPr marL="0" indent="0" algn="r">
              <a:buNone/>
              <a:defRPr sz="3274">
                <a:solidFill>
                  <a:schemeClr val="tx1"/>
                </a:solidFill>
              </a:defRPr>
            </a:lvl1pPr>
            <a:lvl2pPr marL="712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25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38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51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6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77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990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02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14536" y="9173552"/>
            <a:ext cx="6742243" cy="5693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8007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076626" y="9148379"/>
            <a:ext cx="859404" cy="569325"/>
          </a:xfrm>
        </p:spPr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602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0814" y="4158543"/>
            <a:ext cx="13925221" cy="3290633"/>
          </a:xfrm>
        </p:spPr>
        <p:txBody>
          <a:bodyPr anchor="b"/>
          <a:lstStyle>
            <a:lvl1pPr algn="r">
              <a:defRPr sz="623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10811" y="7449175"/>
            <a:ext cx="13925223" cy="1341587"/>
          </a:xfrm>
        </p:spPr>
        <p:txBody>
          <a:bodyPr anchor="t">
            <a:normAutofit/>
          </a:bodyPr>
          <a:lstStyle>
            <a:lvl1pPr marL="0" indent="0" algn="r">
              <a:buNone/>
              <a:defRPr sz="3118">
                <a:solidFill>
                  <a:schemeClr val="tx1"/>
                </a:solidFill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874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405" y="1069341"/>
            <a:ext cx="15621626" cy="27327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14407" y="4158544"/>
            <a:ext cx="7632589" cy="4871439"/>
          </a:xfrm>
        </p:spPr>
        <p:txBody>
          <a:bodyPr>
            <a:normAutofit/>
          </a:bodyPr>
          <a:lstStyle>
            <a:lvl1pPr>
              <a:defRPr sz="2807"/>
            </a:lvl1pPr>
            <a:lvl2pPr>
              <a:defRPr sz="2495"/>
            </a:lvl2pPr>
            <a:lvl3pPr>
              <a:defRPr sz="2183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03438" y="4158544"/>
            <a:ext cx="7632591" cy="4871438"/>
          </a:xfrm>
        </p:spPr>
        <p:txBody>
          <a:bodyPr>
            <a:normAutofit/>
          </a:bodyPr>
          <a:lstStyle>
            <a:lvl1pPr>
              <a:defRPr sz="2807"/>
            </a:lvl1pPr>
            <a:lvl2pPr>
              <a:defRPr sz="2495"/>
            </a:lvl2pPr>
            <a:lvl3pPr>
              <a:defRPr sz="2183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142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3261" y="4145342"/>
            <a:ext cx="7183734" cy="898542"/>
          </a:xfrm>
        </p:spPr>
        <p:txBody>
          <a:bodyPr anchor="b">
            <a:noAutofit/>
          </a:bodyPr>
          <a:lstStyle>
            <a:lvl1pPr marL="0" indent="0">
              <a:buNone/>
              <a:defRPr sz="4366" b="0">
                <a:solidFill>
                  <a:schemeClr val="accent1">
                    <a:lumMod val="75000"/>
                  </a:schemeClr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404" y="5200655"/>
            <a:ext cx="7632591" cy="3829326"/>
          </a:xfrm>
        </p:spPr>
        <p:txBody>
          <a:bodyPr anchor="t">
            <a:normAutofit/>
          </a:bodyPr>
          <a:lstStyle>
            <a:lvl1pPr>
              <a:defRPr sz="2807"/>
            </a:lvl1pPr>
            <a:lvl2pPr>
              <a:defRPr sz="2495"/>
            </a:lvl2pPr>
            <a:lvl3pPr>
              <a:defRPr sz="2183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728365" y="4158544"/>
            <a:ext cx="7207667" cy="898542"/>
          </a:xfrm>
        </p:spPr>
        <p:txBody>
          <a:bodyPr anchor="b">
            <a:noAutofit/>
          </a:bodyPr>
          <a:lstStyle>
            <a:lvl1pPr marL="0" indent="0">
              <a:buNone/>
              <a:defRPr sz="4366" b="0">
                <a:solidFill>
                  <a:schemeClr val="accent1">
                    <a:lumMod val="75000"/>
                  </a:schemeClr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303438" y="5200655"/>
            <a:ext cx="7632591" cy="3829326"/>
          </a:xfrm>
        </p:spPr>
        <p:txBody>
          <a:bodyPr anchor="t">
            <a:normAutofit/>
          </a:bodyPr>
          <a:lstStyle>
            <a:lvl1pPr>
              <a:defRPr sz="2807"/>
            </a:lvl1pPr>
            <a:lvl2pPr>
              <a:defRPr sz="2495"/>
            </a:lvl2pPr>
            <a:lvl3pPr>
              <a:defRPr sz="2183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889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147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969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406" y="2495127"/>
            <a:ext cx="5533949" cy="2138680"/>
          </a:xfrm>
        </p:spPr>
        <p:txBody>
          <a:bodyPr anchor="b">
            <a:normAutofit/>
          </a:bodyPr>
          <a:lstStyle>
            <a:lvl1pPr algn="ctr">
              <a:defRPr sz="374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4798" y="1069339"/>
            <a:ext cx="9731231" cy="7960644"/>
          </a:xfrm>
        </p:spPr>
        <p:txBody>
          <a:bodyPr anchor="ctr">
            <a:normAutofit/>
          </a:bodyPr>
          <a:lstStyle>
            <a:lvl1pPr>
              <a:defRPr sz="3118"/>
            </a:lvl1pPr>
            <a:lvl2pPr>
              <a:defRPr sz="2807"/>
            </a:lvl2pPr>
            <a:lvl3pPr>
              <a:defRPr sz="2495"/>
            </a:lvl3pPr>
            <a:lvl4pPr>
              <a:defRPr sz="2183"/>
            </a:lvl4pPr>
            <a:lvl5pPr>
              <a:defRPr sz="2183"/>
            </a:lvl5pPr>
            <a:lvl6pPr>
              <a:defRPr sz="2183"/>
            </a:lvl6pPr>
            <a:lvl7pPr>
              <a:defRPr sz="2183"/>
            </a:lvl7pPr>
            <a:lvl8pPr>
              <a:defRPr sz="2183"/>
            </a:lvl8pPr>
            <a:lvl9pPr>
              <a:defRPr sz="21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14406" y="4633807"/>
            <a:ext cx="5533949" cy="2851573"/>
          </a:xfrm>
        </p:spPr>
        <p:txBody>
          <a:bodyPr>
            <a:normAutofit/>
          </a:bodyPr>
          <a:lstStyle>
            <a:lvl1pPr marL="0" indent="0" algn="ctr">
              <a:buNone/>
              <a:defRPr sz="2495"/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695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1930" y="2732756"/>
            <a:ext cx="8460709" cy="2138680"/>
          </a:xfrm>
        </p:spPr>
        <p:txBody>
          <a:bodyPr anchor="b">
            <a:normAutofit/>
          </a:bodyPr>
          <a:lstStyle>
            <a:lvl1pPr algn="ctr">
              <a:defRPr sz="436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1969" y="1425787"/>
            <a:ext cx="5115842" cy="7128933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95"/>
            </a:lvl1pPr>
            <a:lvl2pPr marL="712866" indent="0">
              <a:buNone/>
              <a:defRPr sz="2495"/>
            </a:lvl2pPr>
            <a:lvl3pPr marL="1425732" indent="0">
              <a:buNone/>
              <a:defRPr sz="2495"/>
            </a:lvl3pPr>
            <a:lvl4pPr marL="2138599" indent="0">
              <a:buNone/>
              <a:defRPr sz="2495"/>
            </a:lvl4pPr>
            <a:lvl5pPr marL="2851465" indent="0">
              <a:buNone/>
              <a:defRPr sz="2495"/>
            </a:lvl5pPr>
            <a:lvl6pPr marL="3564331" indent="0">
              <a:buNone/>
              <a:defRPr sz="2495"/>
            </a:lvl6pPr>
            <a:lvl7pPr marL="4277197" indent="0">
              <a:buNone/>
              <a:defRPr sz="2495"/>
            </a:lvl7pPr>
            <a:lvl8pPr marL="4990064" indent="0">
              <a:buNone/>
              <a:defRPr sz="2495"/>
            </a:lvl8pPr>
            <a:lvl9pPr marL="5702930" indent="0">
              <a:buNone/>
              <a:defRPr sz="24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11930" y="4871436"/>
            <a:ext cx="8460709" cy="2851573"/>
          </a:xfrm>
        </p:spPr>
        <p:txBody>
          <a:bodyPr>
            <a:normAutofit/>
          </a:bodyPr>
          <a:lstStyle>
            <a:lvl1pPr marL="0" indent="0" algn="ctr">
              <a:buNone/>
              <a:defRPr sz="2807"/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92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405" y="7379764"/>
            <a:ext cx="15621623" cy="883691"/>
          </a:xfrm>
        </p:spPr>
        <p:txBody>
          <a:bodyPr anchor="b">
            <a:normAutofit/>
          </a:bodyPr>
          <a:lstStyle>
            <a:lvl1pPr algn="ctr">
              <a:defRPr sz="374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20377" y="1453404"/>
            <a:ext cx="12826261" cy="493501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95"/>
            </a:lvl1pPr>
            <a:lvl2pPr marL="712866" indent="0">
              <a:buNone/>
              <a:defRPr sz="2495"/>
            </a:lvl2pPr>
            <a:lvl3pPr marL="1425732" indent="0">
              <a:buNone/>
              <a:defRPr sz="2495"/>
            </a:lvl3pPr>
            <a:lvl4pPr marL="2138599" indent="0">
              <a:buNone/>
              <a:defRPr sz="2495"/>
            </a:lvl4pPr>
            <a:lvl5pPr marL="2851465" indent="0">
              <a:buNone/>
              <a:defRPr sz="2495"/>
            </a:lvl5pPr>
            <a:lvl6pPr marL="3564331" indent="0">
              <a:buNone/>
              <a:defRPr sz="2495"/>
            </a:lvl6pPr>
            <a:lvl7pPr marL="4277197" indent="0">
              <a:buNone/>
              <a:defRPr sz="2495"/>
            </a:lvl7pPr>
            <a:lvl8pPr marL="4990064" indent="0">
              <a:buNone/>
              <a:defRPr sz="2495"/>
            </a:lvl8pPr>
            <a:lvl9pPr marL="5702930" indent="0">
              <a:buNone/>
              <a:defRPr sz="24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14405" y="8263455"/>
            <a:ext cx="15621623" cy="769825"/>
          </a:xfrm>
        </p:spPr>
        <p:txBody>
          <a:bodyPr>
            <a:normAutofit/>
          </a:bodyPr>
          <a:lstStyle>
            <a:lvl1pPr marL="0" indent="0" algn="ctr">
              <a:buNone/>
              <a:defRPr sz="2183"/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209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407" y="1069340"/>
            <a:ext cx="15621623" cy="4752622"/>
          </a:xfrm>
        </p:spPr>
        <p:txBody>
          <a:bodyPr anchor="ctr">
            <a:normAutofit/>
          </a:bodyPr>
          <a:lstStyle>
            <a:lvl1pPr algn="ctr">
              <a:defRPr sz="498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407" y="6772486"/>
            <a:ext cx="15621626" cy="2257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3118">
                <a:solidFill>
                  <a:schemeClr val="tx1"/>
                </a:solidFill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6624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492627" y="1345677"/>
            <a:ext cx="950516" cy="911817"/>
          </a:xfrm>
          <a:prstGeom prst="rect">
            <a:avLst/>
          </a:prstGeom>
        </p:spPr>
        <p:txBody>
          <a:bodyPr vert="horz" lIns="142577" tIns="71289" rIns="142577" bIns="7128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47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85516" y="4396174"/>
            <a:ext cx="950516" cy="911817"/>
          </a:xfrm>
          <a:prstGeom prst="rect">
            <a:avLst/>
          </a:prstGeom>
        </p:spPr>
        <p:txBody>
          <a:bodyPr vert="horz" lIns="142577" tIns="71289" rIns="142577" bIns="7128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47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3143" y="1069341"/>
            <a:ext cx="14017630" cy="4277358"/>
          </a:xfrm>
        </p:spPr>
        <p:txBody>
          <a:bodyPr anchor="ctr">
            <a:normAutofit/>
          </a:bodyPr>
          <a:lstStyle>
            <a:lvl1pPr algn="ctr">
              <a:defRPr sz="49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799586" y="5346698"/>
            <a:ext cx="13304748" cy="59407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807"/>
            </a:lvl1pPr>
            <a:lvl2pPr marL="712866" indent="0">
              <a:buFontTx/>
              <a:buNone/>
              <a:defRPr/>
            </a:lvl2pPr>
            <a:lvl3pPr marL="1425732" indent="0">
              <a:buFontTx/>
              <a:buNone/>
              <a:defRPr/>
            </a:lvl3pPr>
            <a:lvl4pPr marL="2138599" indent="0">
              <a:buFontTx/>
              <a:buNone/>
              <a:defRPr/>
            </a:lvl4pPr>
            <a:lvl5pPr marL="285146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405" y="6772486"/>
            <a:ext cx="15621623" cy="2257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3118">
                <a:solidFill>
                  <a:schemeClr val="tx1"/>
                </a:solidFill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123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408" y="5158936"/>
            <a:ext cx="15621620" cy="2290240"/>
          </a:xfrm>
        </p:spPr>
        <p:txBody>
          <a:bodyPr anchor="b">
            <a:normAutofit/>
          </a:bodyPr>
          <a:lstStyle>
            <a:lvl1pPr algn="r">
              <a:defRPr sz="498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406" y="7449175"/>
            <a:ext cx="15621622" cy="1341587"/>
          </a:xfrm>
        </p:spPr>
        <p:txBody>
          <a:bodyPr anchor="t">
            <a:normAutofit/>
          </a:bodyPr>
          <a:lstStyle>
            <a:lvl1pPr marL="0" indent="0" algn="r">
              <a:buNone/>
              <a:defRPr sz="3118">
                <a:solidFill>
                  <a:schemeClr val="tx1"/>
                </a:solidFill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7552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492627" y="1345677"/>
            <a:ext cx="950516" cy="911817"/>
          </a:xfrm>
          <a:prstGeom prst="rect">
            <a:avLst/>
          </a:prstGeom>
        </p:spPr>
        <p:txBody>
          <a:bodyPr vert="horz" lIns="142577" tIns="71289" rIns="142577" bIns="7128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47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85516" y="4396174"/>
            <a:ext cx="950516" cy="911817"/>
          </a:xfrm>
          <a:prstGeom prst="rect">
            <a:avLst/>
          </a:prstGeom>
        </p:spPr>
        <p:txBody>
          <a:bodyPr vert="horz" lIns="142577" tIns="71289" rIns="142577" bIns="7128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47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3143" y="1069341"/>
            <a:ext cx="14017630" cy="4277358"/>
          </a:xfrm>
        </p:spPr>
        <p:txBody>
          <a:bodyPr anchor="ctr">
            <a:normAutofit/>
          </a:bodyPr>
          <a:lstStyle>
            <a:lvl1pPr algn="ctr">
              <a:defRPr sz="49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314407" y="6059594"/>
            <a:ext cx="15621622" cy="1386181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3742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406" y="7445775"/>
            <a:ext cx="15621622" cy="1584207"/>
          </a:xfrm>
        </p:spPr>
        <p:txBody>
          <a:bodyPr anchor="t">
            <a:normAutofit/>
          </a:bodyPr>
          <a:lstStyle>
            <a:lvl1pPr marL="0" indent="0" algn="r">
              <a:buNone/>
              <a:defRPr sz="2807">
                <a:solidFill>
                  <a:schemeClr val="tx1"/>
                </a:solidFill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0892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407" y="1069341"/>
            <a:ext cx="15621625" cy="425260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314407" y="5465516"/>
            <a:ext cx="15621626" cy="130697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366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405" y="6772486"/>
            <a:ext cx="15621626" cy="2257496"/>
          </a:xfrm>
        </p:spPr>
        <p:txBody>
          <a:bodyPr anchor="t">
            <a:normAutofit/>
          </a:bodyPr>
          <a:lstStyle>
            <a:lvl1pPr marL="0" indent="0" algn="l">
              <a:buNone/>
              <a:defRPr sz="2807">
                <a:solidFill>
                  <a:schemeClr val="tx1"/>
                </a:solidFill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443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7853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175593" y="1069340"/>
            <a:ext cx="2760439" cy="79606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4406" y="1069340"/>
            <a:ext cx="12504741" cy="79606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182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35154" y="1"/>
            <a:ext cx="3799588" cy="10693402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14405" y="1069341"/>
            <a:ext cx="15621626" cy="273275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404" y="4158544"/>
            <a:ext cx="15621626" cy="4871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75593" y="9173552"/>
            <a:ext cx="1782217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10814" y="9173552"/>
            <a:ext cx="11045966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76626" y="9173552"/>
            <a:ext cx="859404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060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</p:sldLayoutIdLst>
  <p:txStyles>
    <p:titleStyle>
      <a:lvl1pPr algn="ctr" defTabSz="712866" rtl="0" eaLnBrk="1" latinLnBrk="0" hangingPunct="1">
        <a:spcBef>
          <a:spcPct val="0"/>
        </a:spcBef>
        <a:buNone/>
        <a:defRPr sz="6237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45541" indent="-445541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742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58408" indent="-445541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11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71274" indent="-445541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807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5924" indent="-267325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9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118790" indent="-267325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8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920764" indent="-356433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8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633631" indent="-356433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8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346497" indent="-356433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8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6059363" indent="-356433" algn="l" defTabSz="712866" rtl="0" eaLnBrk="1" latinLnBrk="0" hangingPunct="1">
        <a:spcBef>
          <a:spcPct val="20000"/>
        </a:spcBef>
        <a:spcAft>
          <a:spcPts val="936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8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712866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56CA5EA-8906-472F-B33D-C56FC0D2F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39702" y="570132"/>
            <a:ext cx="2413633" cy="1880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F45592-85B7-3B9D-4286-7510259CF365}"/>
              </a:ext>
            </a:extLst>
          </p:cNvPr>
          <p:cNvSpPr txBox="1"/>
          <p:nvPr/>
        </p:nvSpPr>
        <p:spPr>
          <a:xfrm>
            <a:off x="1694656" y="2450562"/>
            <a:ext cx="15621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GINKGO BIO WORKS: REVOLUTIONIZING BIOTECHNOLOGY THROUGH SYNTHETIC BIOLOGY AND AI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BY: ASAJU ISEOLUWA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ID: CA/SE1/22297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 BIOTECHNOLOGY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INSTITUTION: McPHERSON UNIVERSITY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INTERNSHIP: CODEALPHA BIOTECHNOLOGY PROGRAM (M1)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10</a:t>
            </a:r>
            <a:r>
              <a:rPr lang="en-US" sz="2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NOVEMBER, 2025</a:t>
            </a:r>
          </a:p>
          <a:p>
            <a:pPr algn="ctr">
              <a:lnSpc>
                <a:spcPct val="200000"/>
              </a:lnSpc>
            </a:pPr>
            <a:r>
              <a:rPr lang="en-US" sz="2800" dirty="0"/>
              <a:t> 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2189956" y="1566237"/>
            <a:ext cx="16535400" cy="766876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r>
              <a:rPr lang="en-US" dirty="0">
                <a:cs typeface="Source Sans Pro Light"/>
              </a:rPr>
              <a:t>.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Founded: 2008 by MIT scientists Jason Kelly, Tom Knight, Reshma Shetty, and others.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Headquarters: Boston, Massachusetts, USA.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Focus: Uses synthetic biology to design custom microorganisms for industrial, agricultural, and medical applications.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Motto: “Organisms by Design.”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Valued over $4 billion after going public in 2021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85AB44F-D837-4737-86D1-C4E5A35B8AC4}"/>
              </a:ext>
            </a:extLst>
          </p:cNvPr>
          <p:cNvGrpSpPr/>
          <p:nvPr/>
        </p:nvGrpSpPr>
        <p:grpSpPr>
          <a:xfrm>
            <a:off x="56356" y="738245"/>
            <a:ext cx="5867400" cy="828000"/>
            <a:chOff x="0" y="8642689"/>
            <a:chExt cx="4336348" cy="439424"/>
          </a:xfrm>
        </p:grpSpPr>
        <p:sp>
          <p:nvSpPr>
            <p:cNvPr id="53" name="object 4">
              <a:extLst>
                <a:ext uri="{FF2B5EF4-FFF2-40B4-BE49-F238E27FC236}">
                  <a16:creationId xmlns:a16="http://schemas.microsoft.com/office/drawing/2014/main" id="{6DB0E343-9628-4235-8038-621A98D250CA}"/>
                </a:ext>
              </a:extLst>
            </p:cNvPr>
            <p:cNvSpPr/>
            <p:nvPr/>
          </p:nvSpPr>
          <p:spPr>
            <a:xfrm>
              <a:off x="0" y="8642693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sp>
          <p:nvSpPr>
            <p:cNvPr id="54" name="object 5">
              <a:extLst>
                <a:ext uri="{FF2B5EF4-FFF2-40B4-BE49-F238E27FC236}">
                  <a16:creationId xmlns:a16="http://schemas.microsoft.com/office/drawing/2014/main" id="{CF5C245D-05EF-4DFD-8810-E437FF667919}"/>
                </a:ext>
              </a:extLst>
            </p:cNvPr>
            <p:cNvSpPr/>
            <p:nvPr/>
          </p:nvSpPr>
          <p:spPr>
            <a:xfrm>
              <a:off x="3621605" y="8642689"/>
              <a:ext cx="714743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sp>
        <p:nvSpPr>
          <p:cNvPr id="55" name="object 9">
            <a:extLst>
              <a:ext uri="{FF2B5EF4-FFF2-40B4-BE49-F238E27FC236}">
                <a16:creationId xmlns:a16="http://schemas.microsoft.com/office/drawing/2014/main" id="{290C40E7-4402-4FD6-90CE-5CDF3FC9D08D}"/>
              </a:ext>
            </a:extLst>
          </p:cNvPr>
          <p:cNvSpPr txBox="1"/>
          <p:nvPr/>
        </p:nvSpPr>
        <p:spPr>
          <a:xfrm>
            <a:off x="565306" y="899607"/>
            <a:ext cx="4290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rgbClr val="FFFFFF"/>
                </a:solidFill>
                <a:cs typeface="Source Sans Pro Light"/>
              </a:rPr>
              <a:t>COMPANY</a:t>
            </a:r>
            <a:r>
              <a:rPr lang="en-US" sz="3200" b="1" spc="10" dirty="0">
                <a:solidFill>
                  <a:srgbClr val="FFFFFF"/>
                </a:solidFill>
                <a:cs typeface="Source Sans Pro Light"/>
              </a:rPr>
              <a:t> OVERVIEW</a:t>
            </a:r>
            <a:endParaRPr lang="en-US" sz="3200" b="1" dirty="0">
              <a:cs typeface="Source Sans Pro Ligh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34ADCC-BCF3-49AB-9EB3-362B64C20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01156" y="37084"/>
            <a:ext cx="1828800" cy="16716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6">
            <a:extLst>
              <a:ext uri="{FF2B5EF4-FFF2-40B4-BE49-F238E27FC236}">
                <a16:creationId xmlns:a16="http://schemas.microsoft.com/office/drawing/2014/main" id="{47361EA6-B98B-4E3D-A601-BE47951F364B}"/>
              </a:ext>
            </a:extLst>
          </p:cNvPr>
          <p:cNvSpPr txBox="1"/>
          <p:nvPr/>
        </p:nvSpPr>
        <p:spPr>
          <a:xfrm>
            <a:off x="665162" y="711989"/>
            <a:ext cx="256185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2800" dirty="0">
              <a:cs typeface="Source Sans Pro Light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FAFB5A35-BF02-4ED4-8563-4A73785EE3AD}"/>
              </a:ext>
            </a:extLst>
          </p:cNvPr>
          <p:cNvSpPr txBox="1"/>
          <p:nvPr/>
        </p:nvSpPr>
        <p:spPr>
          <a:xfrm>
            <a:off x="2113755" y="2527300"/>
            <a:ext cx="14249401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biology involves engineering DNA to create or modify living organisms for specific purposes.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Ginkgo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Bioworks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builds genetically programmed microbes that produce chemicals, enzymes, and materials sustainably.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operates as a “biological foundry”; automating biology like a tech factory for cells.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CC641-9548-7214-1353-1E00FC865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CCE707E-1594-7173-A106-0D706DC1EC75}"/>
              </a:ext>
            </a:extLst>
          </p:cNvPr>
          <p:cNvGrpSpPr/>
          <p:nvPr/>
        </p:nvGrpSpPr>
        <p:grpSpPr>
          <a:xfrm>
            <a:off x="-30730" y="735575"/>
            <a:ext cx="7554686" cy="961792"/>
            <a:chOff x="-36444" y="8635701"/>
            <a:chExt cx="4372792" cy="446408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F77703C5-1993-0847-F6AF-DA84073EEBD6}"/>
                </a:ext>
              </a:extLst>
            </p:cNvPr>
            <p:cNvSpPr/>
            <p:nvPr/>
          </p:nvSpPr>
          <p:spPr>
            <a:xfrm>
              <a:off x="-36444" y="8635701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r>
                <a:rPr lang="en-US" sz="3600" b="1" spc="-5" dirty="0">
                  <a:solidFill>
                    <a:srgbClr val="FFFFFF"/>
                  </a:solidFill>
                  <a:cs typeface="Source Sans Pro Light"/>
                </a:rPr>
                <a:t>WHAT IS SYNTHETIC BIOLOGY?</a:t>
              </a:r>
              <a:endParaRPr lang="en-US" sz="3600" b="1" dirty="0">
                <a:cs typeface="Source Sans Pro Light"/>
              </a:endParaRPr>
            </a:p>
            <a:p>
              <a:endParaRPr lang="en-US" sz="3600" b="1" dirty="0"/>
            </a:p>
            <a:p>
              <a:endParaRPr lang="en-US" sz="3600" b="1" dirty="0"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E936B21-0BB1-8C55-6CE3-036959F1226B}"/>
                </a:ext>
              </a:extLst>
            </p:cNvPr>
            <p:cNvSpPr/>
            <p:nvPr/>
          </p:nvSpPr>
          <p:spPr>
            <a:xfrm>
              <a:off x="3621605" y="8642689"/>
              <a:ext cx="714743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477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1" y="546100"/>
            <a:ext cx="6076155" cy="828000"/>
            <a:chOff x="564554" y="8642689"/>
            <a:chExt cx="3496471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464752" y="645907"/>
            <a:ext cx="484778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solidFill>
                  <a:srgbClr val="FFFFFF"/>
                </a:solidFill>
                <a:cs typeface="Source Sans Pro Light"/>
              </a:rPr>
              <a:t>CORE INNOVATION</a:t>
            </a:r>
            <a:endParaRPr lang="en-US" sz="4000" b="1" dirty="0">
              <a:cs typeface="Source Sans Pro Ligh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2113755" y="2527300"/>
            <a:ext cx="16922433" cy="503304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r>
              <a:rPr lang="en-US" dirty="0"/>
              <a:t> 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Ginkgo’s core innovation lies in its Foundry Platform: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AI, robotics, and cloud-based automation.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Designs, tests, and optimizes microbial strains rapidly.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large-scale production of custom biological products.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 platform supports clients across multiple industries; from pharma to fragrance manufacturing</a:t>
            </a:r>
            <a:r>
              <a:rPr lang="en-US" dirty="0"/>
              <a:t>.</a:t>
            </a:r>
          </a:p>
          <a:p>
            <a:pPr marL="12700" marR="5080" algn="just">
              <a:lnSpc>
                <a:spcPct val="118100"/>
              </a:lnSpc>
              <a:spcBef>
                <a:spcPts val="100"/>
              </a:spcBef>
            </a:pPr>
            <a:endParaRPr lang="en-US" dirty="0">
              <a:cs typeface="Source Sans Pro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E100B7-4267-CC31-1AED-3AB40EC30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5314155" cy="828000"/>
            <a:chOff x="564554" y="8642689"/>
            <a:chExt cx="3496471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0" y="645907"/>
            <a:ext cx="5410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solidFill>
                  <a:srgbClr val="FFFFFF"/>
                </a:solidFill>
                <a:cs typeface="Source Sans Pro Light"/>
              </a:rPr>
              <a:t>MAJOR APPLICATIONS</a:t>
            </a:r>
            <a:endParaRPr lang="en-US" sz="4000" b="1" dirty="0">
              <a:cs typeface="Source Sans Pro Ligh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2113756" y="2146300"/>
            <a:ext cx="13563600" cy="6988323"/>
          </a:xfrm>
          <a:prstGeom prst="rect">
            <a:avLst/>
          </a:prstGeom>
        </p:spPr>
        <p:txBody>
          <a:bodyPr vert="horz" wrap="square" lIns="0" tIns="5080" rIns="0" bIns="0" rtlCol="0" anchor="t">
            <a:spAutoFit/>
          </a:bodyPr>
          <a:lstStyle/>
          <a:p>
            <a:r>
              <a:rPr lang="en-US" dirty="0"/>
              <a:t> </a:t>
            </a:r>
            <a:endParaRPr lang="en-US" sz="3200" dirty="0"/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Healthcare &amp; Pharmaceuticals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mRNA vaccine components and therapeutic enzymes.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Collaboration with Moderna and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Synlogic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microbiome therapeutics.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2. Agriculture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Engineered microbes for soil health and nitrogen fixation.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3. Industrial Biotechnology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of bio-based fragrances, food additives, and enzymes.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4. Environment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Microbes for waste remediation and sustainable chemical production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2700" marR="5080" algn="just">
              <a:lnSpc>
                <a:spcPct val="118100"/>
              </a:lnSpc>
            </a:pPr>
            <a:endParaRPr lang="en-US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2AFD5-5F6A-2D43-ECC2-16CA5431B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2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12019756" cy="828000"/>
            <a:chOff x="-3847425" y="8642689"/>
            <a:chExt cx="7908450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-3847425" y="8642693"/>
              <a:ext cx="7692351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00440" y="645907"/>
            <a:ext cx="783791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solidFill>
                  <a:srgbClr val="FFFFFF"/>
                </a:solidFill>
                <a:cs typeface="Source Sans Pro Light"/>
              </a:rPr>
              <a:t>USE OF ARTIFICIAL INTELLIGENCE </a:t>
            </a:r>
            <a:endParaRPr lang="en-US" sz="4000" b="1" dirty="0">
              <a:cs typeface="Source Sans Pro Ligh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971551" y="1689100"/>
            <a:ext cx="8457406" cy="66030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32384" algn="just">
              <a:lnSpc>
                <a:spcPct val="118100"/>
              </a:lnSpc>
            </a:pPr>
            <a:endParaRPr lang="en-US" dirty="0">
              <a:cs typeface="Source Sans Pro Light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endParaRPr lang="en-US" dirty="0"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DDEB8-DE28-3FDC-4EE2-3EB6DFDB68F3}"/>
              </a:ext>
            </a:extLst>
          </p:cNvPr>
          <p:cNvSpPr txBox="1"/>
          <p:nvPr/>
        </p:nvSpPr>
        <p:spPr>
          <a:xfrm>
            <a:off x="1961356" y="3289300"/>
            <a:ext cx="12289568" cy="475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Ginkgo integrates AI and machine learning to accelerate strain design. </a:t>
            </a:r>
          </a:p>
          <a:p>
            <a:pPr marL="457200" marR="0" indent="-4572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helps predict gene interactions, protein functions, and metabolic outcomes. </a:t>
            </a:r>
          </a:p>
          <a:p>
            <a:pPr marL="457200" marR="0" indent="-4572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Collaboration with Google Cloud and DeepMind supports big-data-driven biological modeling.</a:t>
            </a:r>
          </a:p>
          <a:p>
            <a:pPr marL="457200" marR="0" indent="-4572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Enables faster, cheaper, and more accurate bioengineering cycles.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49B713-FE77-73B9-729B-7DB8510CD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7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469900"/>
            <a:ext cx="7752556" cy="904183"/>
            <a:chOff x="-776252" y="8642689"/>
            <a:chExt cx="4837277" cy="439420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-776252" y="8642689"/>
              <a:ext cx="4753485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r>
                <a:rPr lang="en-US" sz="2800" b="1" dirty="0">
                  <a:solidFill>
                    <a:srgbClr val="FFFFFF"/>
                  </a:solidFill>
                  <a:cs typeface="Source Sans Pro Light"/>
                </a:rPr>
                <a:t>CASE EXAMPLE-BIO-BASED FRAGRANCE PRODUCTION</a:t>
              </a:r>
              <a:endParaRPr lang="en-US" sz="2800" b="1"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2037556" y="2755900"/>
            <a:ext cx="13258799" cy="50071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 </a:t>
            </a:r>
            <a:endParaRPr lang="en-US" sz="36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Partnered with </a:t>
            </a:r>
            <a:r>
              <a:rPr lang="en-US" sz="3600" dirty="0" err="1"/>
              <a:t>Robertet</a:t>
            </a:r>
            <a:r>
              <a:rPr lang="en-US" sz="3600" dirty="0"/>
              <a:t> and BASF to produce bio-derived rose scent molecules using engineered yeast. 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Replaces costly and unsustainable plant extraction. 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Demonstrates Ginkgo’s success in commercializing synthetic biology.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sz="2000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C493-6790-BF32-B911-59E50EA0A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5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2113756" y="2535022"/>
            <a:ext cx="16001999" cy="404649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Positioned as a “biotechnology infrastructure company” powering global innovation.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Serves over 100 corporate partners across multiple sectors.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Boosts industrial sustainability by reducing chemical waste and carbon emissions.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2024 revenue exceeded $250 million, with continued R&amp;D growth.</a:t>
            </a:r>
          </a:p>
          <a:p>
            <a:r>
              <a:rPr lang="en-US" dirty="0"/>
              <a:t> </a:t>
            </a:r>
          </a:p>
          <a:p>
            <a:pPr marL="12700" marR="5080" algn="just">
              <a:lnSpc>
                <a:spcPct val="118100"/>
              </a:lnSpc>
              <a:spcBef>
                <a:spcPts val="100"/>
              </a:spcBef>
            </a:pPr>
            <a:endParaRPr lang="en-US" dirty="0">
              <a:cs typeface="Source Sans Pro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67EEED-611F-2CF8-89E1-72C60E3B6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E4C7960-24D8-70B5-218C-31ADF4A6D52E}"/>
              </a:ext>
            </a:extLst>
          </p:cNvPr>
          <p:cNvGrpSpPr/>
          <p:nvPr/>
        </p:nvGrpSpPr>
        <p:grpSpPr>
          <a:xfrm>
            <a:off x="0" y="393700"/>
            <a:ext cx="5419233" cy="904183"/>
            <a:chOff x="-651633" y="8642689"/>
            <a:chExt cx="3440434" cy="43942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9ABA35D8-5CAC-58E1-7213-B288101C325A}"/>
                </a:ext>
              </a:extLst>
            </p:cNvPr>
            <p:cNvSpPr/>
            <p:nvPr/>
          </p:nvSpPr>
          <p:spPr>
            <a:xfrm>
              <a:off x="-651633" y="8642689"/>
              <a:ext cx="3220724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r>
                <a:rPr lang="en-US" sz="4000" b="1" dirty="0">
                  <a:solidFill>
                    <a:srgbClr val="FFFFFF"/>
                  </a:solidFill>
                </a:rPr>
                <a:t>MARKET IMPACT</a:t>
              </a:r>
              <a:endParaRPr lang="en-US" sz="4000" b="1" dirty="0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E74A836F-233A-ECEE-BA98-D58B19D5405E}"/>
                </a:ext>
              </a:extLst>
            </p:cNvPr>
            <p:cNvSpPr/>
            <p:nvPr/>
          </p:nvSpPr>
          <p:spPr>
            <a:xfrm>
              <a:off x="2349381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7826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EC7C71-0A16-CA1E-AB66-B762992279F3}"/>
              </a:ext>
            </a:extLst>
          </p:cNvPr>
          <p:cNvGrpSpPr/>
          <p:nvPr/>
        </p:nvGrpSpPr>
        <p:grpSpPr>
          <a:xfrm>
            <a:off x="0" y="637603"/>
            <a:ext cx="6082430" cy="827992"/>
            <a:chOff x="560943" y="8642689"/>
            <a:chExt cx="3500082" cy="439420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416D3C66-6003-1443-D696-7B43D5D6CD70}"/>
                </a:ext>
              </a:extLst>
            </p:cNvPr>
            <p:cNvSpPr/>
            <p:nvPr/>
          </p:nvSpPr>
          <p:spPr>
            <a:xfrm>
              <a:off x="560943" y="8642689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r>
                <a:rPr lang="en-US" sz="4000" b="1" dirty="0">
                  <a:solidFill>
                    <a:srgbClr val="FFFFFF"/>
                  </a:solidFill>
                </a:rPr>
                <a:t>CHALLENGES</a:t>
              </a:r>
              <a:endParaRPr lang="en-US" sz="4000" b="1" dirty="0"/>
            </a:p>
            <a:p>
              <a:endParaRPr lang="en-US" dirty="0"/>
            </a:p>
          </p:txBody>
        </p:sp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1ECDE1FD-6C60-A4C2-0CF7-CBC7939D2678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3EC4ACB-9C5B-CAAD-3B17-D85A77AF2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FA2C57-FF71-7F4A-E546-5A816C2559F8}"/>
              </a:ext>
            </a:extLst>
          </p:cNvPr>
          <p:cNvSpPr txBox="1"/>
          <p:nvPr/>
        </p:nvSpPr>
        <p:spPr>
          <a:xfrm>
            <a:off x="2685256" y="2755900"/>
            <a:ext cx="13639800" cy="492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Aft>
                <a:spcPts val="800"/>
              </a:spcAft>
            </a:pPr>
            <a:endParaRPr lang="en-U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R&amp;D costs and scalability issues. 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Intellectual property and biosecurity concerns related to engineered organisms. 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Dependence on industrial partners for product commercialization.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 volatility in the biotech sector after the 2021–2023 funding boom.</a:t>
            </a:r>
          </a:p>
        </p:txBody>
      </p:sp>
    </p:spTree>
    <p:extLst>
      <p:ext uri="{BB962C8B-B14F-4D97-AF65-F5344CB8AC3E}">
        <p14:creationId xmlns:p14="http://schemas.microsoft.com/office/powerpoint/2010/main" val="141701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1" y="546100"/>
            <a:ext cx="9886156" cy="828000"/>
            <a:chOff x="-776065" y="8642689"/>
            <a:chExt cx="4837090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-776065" y="8642693"/>
              <a:ext cx="4620991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771273" y="645907"/>
            <a:ext cx="530488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solidFill>
                  <a:schemeClr val="bg1"/>
                </a:solidFill>
              </a:rPr>
              <a:t>FUTURE PROSPECTS</a:t>
            </a:r>
            <a:endParaRPr lang="en-US" sz="4000" b="1" dirty="0">
              <a:solidFill>
                <a:schemeClr val="bg1"/>
              </a:solidFill>
              <a:cs typeface="Source Sans Pro Light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B00ADBE-6249-46EB-B9DA-3742A4C1861C}"/>
              </a:ext>
            </a:extLst>
          </p:cNvPr>
          <p:cNvSpPr txBox="1"/>
          <p:nvPr/>
        </p:nvSpPr>
        <p:spPr>
          <a:xfrm>
            <a:off x="2342356" y="2374900"/>
            <a:ext cx="15011400" cy="529888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Expanding AI-driven metabolic pathway modeling for drug and enzyme design.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Growing focus on biosecurity, climate change solutions, and cell therapy development.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Plans to make biology as programmable as software, enabling rapid innovation in any bio-based sector</a:t>
            </a:r>
            <a:r>
              <a:rPr lang="en-US" sz="2400" dirty="0"/>
              <a:t>.</a:t>
            </a:r>
          </a:p>
          <a:p>
            <a:pPr marL="469900" marR="435609" indent="-457200">
              <a:lnSpc>
                <a:spcPct val="104200"/>
              </a:lnSpc>
            </a:pPr>
            <a:endParaRPr lang="en-US" sz="2400" dirty="0">
              <a:cs typeface="Source Sans Pro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E34C4D-7D4E-9253-EE20-4CB67A6B4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92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22FC83B-F07B-F768-00CE-10CDA4E2918B}"/>
              </a:ext>
            </a:extLst>
          </p:cNvPr>
          <p:cNvGrpSpPr/>
          <p:nvPr/>
        </p:nvGrpSpPr>
        <p:grpSpPr>
          <a:xfrm>
            <a:off x="-26120" y="546091"/>
            <a:ext cx="6102276" cy="827992"/>
            <a:chOff x="549523" y="8642689"/>
            <a:chExt cx="3511502" cy="439420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ADFF6F96-649A-ED1F-41A8-3D05336D3911}"/>
                </a:ext>
              </a:extLst>
            </p:cNvPr>
            <p:cNvSpPr/>
            <p:nvPr/>
          </p:nvSpPr>
          <p:spPr>
            <a:xfrm>
              <a:off x="549523" y="8642689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r>
                <a:rPr lang="en-US" sz="4400" b="1" dirty="0">
                  <a:solidFill>
                    <a:srgbClr val="FFFFFF"/>
                  </a:solidFill>
                </a:rPr>
                <a:t>CONCLUSION</a:t>
              </a:r>
              <a:endParaRPr lang="en-US" sz="2800" b="1" dirty="0"/>
            </a:p>
            <a:p>
              <a:endParaRPr lang="en-US" dirty="0"/>
            </a:p>
          </p:txBody>
        </p:sp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5F4ED625-D968-8BBA-CE82-B2935C00BFB7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4B7BFC5-F1F2-AC59-319C-40DD5A123E08}"/>
              </a:ext>
            </a:extLst>
          </p:cNvPr>
          <p:cNvSpPr txBox="1"/>
          <p:nvPr/>
        </p:nvSpPr>
        <p:spPr>
          <a:xfrm>
            <a:off x="2347988" y="2345750"/>
            <a:ext cx="14243767" cy="600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Ginkgo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Bioworks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redefining industrial biotechnology through automation, AI, and genetic engineering.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Its platform model allows companies to outsource biology the same way they outsource cloud computing.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continued investment and responsible regulation, Ginkgo’s approach could power the next industrial revolution — a biological revolution built on sustainability and design.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D1874-A689-55FF-3662-BDC66B828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90DCDC-37E0-40A9-B64A-24D5EA6D3C08}"/>
              </a:ext>
            </a:extLst>
          </p:cNvPr>
          <p:cNvSpPr/>
          <p:nvPr/>
        </p:nvSpPr>
        <p:spPr>
          <a:xfrm>
            <a:off x="668492" y="4051300"/>
            <a:ext cx="17673328" cy="206210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  <a:latin typeface="Calibri"/>
                <a:cs typeface="Calibri"/>
              </a:rPr>
              <a:t>THANK YOU!!!</a:t>
            </a:r>
          </a:p>
          <a:p>
            <a:pPr algn="ctr"/>
            <a:br>
              <a:rPr lang="en-US" sz="2800" b="1" dirty="0">
                <a:solidFill>
                  <a:schemeClr val="bg1"/>
                </a:solidFill>
                <a:latin typeface="Calibri"/>
                <a:cs typeface="Calibri"/>
                <a:hlinkClick r:id="rId2" invalidUrl="http://"/>
              </a:rPr>
            </a:br>
            <a:endParaRPr lang="en-US" sz="2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E50B35-E9B0-5BF9-4731-503613B54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29756" y="215781"/>
            <a:ext cx="1828800" cy="16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03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Custom 1">
      <a:dk1>
        <a:sysClr val="windowText" lastClr="000000"/>
      </a:dk1>
      <a:lt1>
        <a:sysClr val="window" lastClr="FFFFFF"/>
      </a:lt1>
      <a:dk2>
        <a:srgbClr val="212121"/>
      </a:dk2>
      <a:lt2>
        <a:srgbClr val="FFFFFF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138</TotalTime>
  <Words>581</Words>
  <Application>Microsoft Office PowerPoint</Application>
  <PresentationFormat>Custom</PresentationFormat>
  <Paragraphs>96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Corbel</vt:lpstr>
      <vt:lpstr>Source Sans Pro Light</vt:lpstr>
      <vt:lpstr>Wingdings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2025-10-22T10:59:54Z</dcterms:created>
  <dcterms:modified xsi:type="dcterms:W3CDTF">2025-11-08T11:16:11Z</dcterms:modified>
</cp:coreProperties>
</file>